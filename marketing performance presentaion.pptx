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85" r:id="rId6"/>
    <p:sldId id="278" r:id="rId7"/>
    <p:sldId id="289" r:id="rId8"/>
    <p:sldId id="287" r:id="rId9"/>
    <p:sldId id="261" r:id="rId10"/>
    <p:sldId id="260" r:id="rId11"/>
    <p:sldId id="284" r:id="rId12"/>
    <p:sldId id="288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8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BEB9AA"/>
    <a:srgbClr val="C0C9C2"/>
    <a:srgbClr val="AA9D92"/>
    <a:srgbClr val="F2F1EE"/>
    <a:srgbClr val="D8D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595" autoAdjust="0"/>
  </p:normalViewPr>
  <p:slideViewPr>
    <p:cSldViewPr snapToGrid="0">
      <p:cViewPr varScale="1">
        <p:scale>
          <a:sx n="77" d="100"/>
          <a:sy n="77" d="100"/>
        </p:scale>
        <p:origin x="912" y="62"/>
      </p:cViewPr>
      <p:guideLst>
        <p:guide pos="4128"/>
        <p:guide orient="horz" pos="960"/>
      </p:guideLst>
    </p:cSldViewPr>
  </p:slideViewPr>
  <p:outlineViewPr>
    <p:cViewPr>
      <p:scale>
        <a:sx n="33" d="100"/>
        <a:sy n="33" d="100"/>
      </p:scale>
      <p:origin x="0" y="-402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E6020-4209-49A3-9DC4-18264096E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97462-F1DD-4E64-BC14-F17A0F34B5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2FC57-E1F8-4F59-A87C-2833007EAF5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5F0E3-AC70-4B5A-BCEB-9E3C021C86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F68B5-925F-4468-95B3-EA77C29C34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A06BE-7519-4B21-9E1D-AE6D6E69C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ACAC0-59EA-4916-9995-398D6BEB88C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B2C62-FE30-453D-946B-754E9E42C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2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spacing + Page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75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2964EA8-200F-47C5-90C2-1DBA3D6D7C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8700" y="5078187"/>
            <a:ext cx="3222058" cy="96462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878E298-5074-4E51-993E-34931A897F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1413" y="0"/>
            <a:ext cx="4941887" cy="57261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D26D0E-18C6-4DB1-B3A5-75E29BD65B17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noFill/>
          <a:ln w="15875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89B90B-5C3C-4760-9360-5AE10BF8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61D25CF-5413-4949-A54A-8716608406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58050" y="2000250"/>
            <a:ext cx="4667250" cy="339883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224E3A4F-8479-4D38-A6D4-85F0883F3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D4DA8-2D4A-4F06-BECA-044AF4113FB4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D5A5341A-4863-40E8-8B9A-FB4E71925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2FED0-CD95-48B0-B54A-1F64F952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EF5E91-A275-4181-9C62-BC0773AD0512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71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23630CA-0A51-4B04-A57B-9E412A8FCD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47137" y="3862387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C994AE8-9E30-418E-8361-5D851AFA42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854450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4E5783-2917-458E-BE61-F3D5AAA8F9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30908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1D734B5-5F1C-4E34-81FF-AD75105E83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757DE8-43D6-4A47-ABC9-B39EC8016C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5"/>
            <a:ext cx="3924300" cy="43910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84C97B0-0D42-4831-9ABD-390370C0F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81873-7D47-483D-BCB4-50DD9806C720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CE8438DF-723C-49AB-AD18-1C40F107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2FDE8-62A6-4290-88E6-2795313DE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465137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85317C-3A2D-483F-B913-714129E19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3045" y="2426610"/>
            <a:ext cx="2378075" cy="111125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DFEC7-1EEC-4FF2-868A-9799EA69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55" y="2714986"/>
            <a:ext cx="6674802" cy="6553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364FFEF-B933-46C6-A918-A80C987DB7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2147" y="0"/>
            <a:ext cx="3938588" cy="64008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 hidden="1">
            <a:extLst>
              <a:ext uri="{FF2B5EF4-FFF2-40B4-BE49-F238E27FC236}">
                <a16:creationId xmlns:a16="http://schemas.microsoft.com/office/drawing/2014/main" id="{59E5EAF8-68C2-4910-8F66-D9320B957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967" y="2105933"/>
            <a:ext cx="5297883" cy="102421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3BE48E1-D3BE-4B52-B2EC-13A514CB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66" y="2105933"/>
            <a:ext cx="5297883" cy="2237467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674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0815B22-13FE-47CD-9F79-73704A278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B74C9-B808-4394-A017-79C83B2524EF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7669539-CB64-44F5-999D-7B9E61F8A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BA076-F3B9-47CB-80C2-BE29F157D0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10499725" cy="4860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09627E-FE70-43A1-B0CB-4D4F6C32C2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074" y="122239"/>
            <a:ext cx="10499725" cy="1355724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41BF345D-81AF-4851-83A1-623398489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1917" y="517972"/>
            <a:ext cx="31089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C4F3A57-45ED-498D-858C-3EE63DF129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6601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1AC5BB09-E3BA-4948-93B3-EDCAAB8031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01197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BF83C6B7-5484-4586-8830-098BDCD9C9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6324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0C5663B1-EED6-4D80-A7C2-19E136638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39069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0">
            <a:extLst>
              <a:ext uri="{FF2B5EF4-FFF2-40B4-BE49-F238E27FC236}">
                <a16:creationId xmlns:a16="http://schemas.microsoft.com/office/drawing/2014/main" id="{D21E7B61-407B-40A7-9AF6-0D7E7106BC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96046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415C3ACC-5A8A-46E6-BA0D-90ADD27E2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DF6D-B715-4785-8DEA-9165C638CF44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0D00A5C2-DCEE-4CB3-9307-61EB88B1D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8CB70-B054-4294-AD29-EE7A75C7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51507"/>
            <a:ext cx="8991563" cy="100583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0D608-4E7A-4014-9F62-CB43A0C839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6638" y="2717800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C3A63B0-4EEA-45BC-A016-5FDA0969EA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861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080679B-5220-4478-B631-7112F870B7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5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E4F61A3-2797-46FB-ACA7-0443E3BBDD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3907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4ED733B-1DE9-4FDC-BD5F-2BE3BB07C9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0402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05858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275B11D-8F3F-472B-BBCC-A4F7415AC0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8700" y="3543300"/>
            <a:ext cx="3924300" cy="3314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9F0629D-1A5F-4F4F-90D6-430379624E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sz="1600">
                <a:solidFill>
                  <a:schemeClr val="tx2">
                    <a:lumMod val="50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Click to edit Master text styles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18C063B-0EE9-4FD5-A116-241C24545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AE72A-09B6-4D56-855D-4360BD347914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417B369-6569-4DCC-B684-BE1A7C5D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EC1A7-43C3-481E-95D0-5616242E1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4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6CF0E0-8FF2-4FE7-AC69-85BEFA656508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337C3D7-7DDB-42A8-901A-EC153DD274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0"/>
            <a:ext cx="4953000" cy="3302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B95226-A076-4D55-B408-1389A2F8C7A0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028700" y="3556002"/>
            <a:ext cx="3108960" cy="2286000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6673F10-179D-4539-AA33-AE34EC0457EF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454152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B6CFC30-1A59-4D28-9E30-0FF7D632C6A2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805434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C4F3CC75-F9FA-4F77-9DD5-7E6C0F5C9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9D1A0-04AB-4DD4-B9DB-BDEC5E64C94C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93B5B65C-5DE0-4F81-8115-758CDB59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F4A2ACE-2D85-4F78-818F-BBA6F6F0C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0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DCD8D3-DF79-446E-9961-5797EE888B4C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CB4EDDC-C544-421C-905C-A4D40D98A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3EA80-260A-4EE9-83BB-E6DD04DEA906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9CBFDBF-2D2B-469A-9B2F-72F90474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A55D6-2810-4163-9D43-FEDA674E2D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829" y="573503"/>
            <a:ext cx="10156826" cy="136959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E87E0B-D644-4037-B322-715C648BAD3B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419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940246AD-CE4F-4FD8-BCF6-5BA9ED62AC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543302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F8ECBB79-D5D3-4ECE-99F9-1B6834629E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C667C6DE-A3D4-4738-B7FC-43FB39FD7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2C18C04-19C8-4ECC-83E8-6E65128CE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6"/>
            <a:ext cx="3924300" cy="28495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14E5D8-EB42-4C87-B4AE-4746909A2D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9813" y="5067300"/>
            <a:ext cx="3913187" cy="1319213"/>
          </a:xfrm>
        </p:spPr>
        <p:txBody>
          <a:bodyPr>
            <a:normAutofit/>
          </a:bodyPr>
          <a:lstStyle>
            <a:lvl1pPr>
              <a:defRPr lang="en-US" sz="1600" kern="120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649945F-7BBD-4042-AA34-709CE340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80274-DEF2-4F5D-8F74-69D0554CED55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1936C4A-DE5F-4BFE-AED0-47E48CD4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81B703-4F1F-41A6-AD71-3FFB2820F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0130" y="465136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577C8-AB8C-4B8A-A01F-113B16C4DCA3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9" r:id="rId8"/>
    <p:sldLayoutId id="2147483655" r:id="rId9"/>
    <p:sldLayoutId id="2147483656" r:id="rId10"/>
    <p:sldLayoutId id="2147483658" r:id="rId11"/>
    <p:sldLayoutId id="2147483657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8" userDrawn="1">
          <p15:clr>
            <a:srgbClr val="F26B43"/>
          </p15:clr>
        </p15:guide>
        <p15:guide id="2" pos="1176" userDrawn="1">
          <p15:clr>
            <a:srgbClr val="F26B43"/>
          </p15:clr>
        </p15:guide>
        <p15:guide id="3" pos="1296" userDrawn="1">
          <p15:clr>
            <a:srgbClr val="F26B43"/>
          </p15:clr>
        </p15:guide>
        <p15:guide id="4" pos="1824" userDrawn="1">
          <p15:clr>
            <a:srgbClr val="F26B43"/>
          </p15:clr>
        </p15:guide>
        <p15:guide id="5" pos="1944" userDrawn="1">
          <p15:clr>
            <a:srgbClr val="F26B43"/>
          </p15:clr>
        </p15:guide>
        <p15:guide id="6" pos="2472" userDrawn="1">
          <p15:clr>
            <a:srgbClr val="F26B43"/>
          </p15:clr>
        </p15:guide>
        <p15:guide id="7" pos="2592" userDrawn="1">
          <p15:clr>
            <a:srgbClr val="F26B43"/>
          </p15:clr>
        </p15:guide>
        <p15:guide id="8" pos="3120" userDrawn="1">
          <p15:clr>
            <a:srgbClr val="F26B43"/>
          </p15:clr>
        </p15:guide>
        <p15:guide id="9" pos="3240" userDrawn="1">
          <p15:clr>
            <a:srgbClr val="F26B43"/>
          </p15:clr>
        </p15:guide>
        <p15:guide id="10" pos="3792" userDrawn="1">
          <p15:clr>
            <a:srgbClr val="F26B43"/>
          </p15:clr>
        </p15:guide>
        <p15:guide id="11" pos="3912" userDrawn="1">
          <p15:clr>
            <a:srgbClr val="F26B43"/>
          </p15:clr>
        </p15:guide>
        <p15:guide id="12" pos="4416" userDrawn="1">
          <p15:clr>
            <a:srgbClr val="F26B43"/>
          </p15:clr>
        </p15:guide>
        <p15:guide id="13" pos="4560" userDrawn="1">
          <p15:clr>
            <a:srgbClr val="F26B43"/>
          </p15:clr>
        </p15:guide>
        <p15:guide id="14" pos="5088" userDrawn="1">
          <p15:clr>
            <a:srgbClr val="F26B43"/>
          </p15:clr>
        </p15:guide>
        <p15:guide id="15" pos="5208" userDrawn="1">
          <p15:clr>
            <a:srgbClr val="F26B43"/>
          </p15:clr>
        </p15:guide>
        <p15:guide id="16" pos="5736" userDrawn="1">
          <p15:clr>
            <a:srgbClr val="F26B43"/>
          </p15:clr>
        </p15:guide>
        <p15:guide id="17" pos="5856" userDrawn="1">
          <p15:clr>
            <a:srgbClr val="F26B43"/>
          </p15:clr>
        </p15:guide>
        <p15:guide id="18" pos="6384" userDrawn="1">
          <p15:clr>
            <a:srgbClr val="F26B43"/>
          </p15:clr>
        </p15:guide>
        <p15:guide id="19" pos="6504" userDrawn="1">
          <p15:clr>
            <a:srgbClr val="F26B43"/>
          </p15:clr>
        </p15:guide>
        <p15:guide id="20" pos="7032" userDrawn="1">
          <p15:clr>
            <a:srgbClr val="F26B43"/>
          </p15:clr>
        </p15:guide>
        <p15:guide id="21" orient="horz" pos="288" userDrawn="1">
          <p15:clr>
            <a:srgbClr val="F26B43"/>
          </p15:clr>
        </p15:guide>
        <p15:guide id="22" orient="horz" pos="1128" userDrawn="1">
          <p15:clr>
            <a:srgbClr val="F26B43"/>
          </p15:clr>
        </p15:guide>
        <p15:guide id="23" orient="horz" pos="1248" userDrawn="1">
          <p15:clr>
            <a:srgbClr val="F26B43"/>
          </p15:clr>
        </p15:guide>
        <p15:guide id="24" orient="horz" pos="2088" userDrawn="1">
          <p15:clr>
            <a:srgbClr val="F26B43"/>
          </p15:clr>
        </p15:guide>
        <p15:guide id="25" orient="horz" pos="2232" userDrawn="1">
          <p15:clr>
            <a:srgbClr val="F26B43"/>
          </p15:clr>
        </p15:guide>
        <p15:guide id="26" orient="horz" pos="3048" userDrawn="1">
          <p15:clr>
            <a:srgbClr val="F26B43"/>
          </p15:clr>
        </p15:guide>
        <p15:guide id="27" orient="horz" pos="3192" userDrawn="1">
          <p15:clr>
            <a:srgbClr val="F26B43"/>
          </p15:clr>
        </p15:guide>
        <p15:guide id="28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7A48A35-E5E4-4A5F-9F91-BAEA4F5DF21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38539" y="1431234"/>
            <a:ext cx="6679095" cy="4422913"/>
          </a:xfrm>
        </p:spPr>
        <p:txBody>
          <a:bodyPr>
            <a:normAutofit fontScale="70000" lnSpcReduction="20000"/>
          </a:bodyPr>
          <a:lstStyle/>
          <a:p>
            <a:endParaRPr lang="en-US" sz="3200" b="1" dirty="0"/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Marketing Campaign Performance Analysis</a:t>
            </a:r>
            <a:br>
              <a:rPr lang="en-US" sz="3200" b="1" dirty="0"/>
            </a:br>
            <a:r>
              <a:rPr lang="en-US" sz="3200" b="1" i="1" dirty="0"/>
              <a:t>Data-driven insights to optimize ROAS &amp; ad spend</a:t>
            </a:r>
            <a:endParaRPr lang="en-US" sz="3200" b="1" dirty="0"/>
          </a:p>
          <a:p>
            <a:pPr marL="0" indent="0">
              <a:buNone/>
            </a:pP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41EBBC-DAAE-F7EB-16CF-706A1D495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634" y="1103243"/>
            <a:ext cx="4850295" cy="485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1A7FF5-E7DB-4462-BC64-12126BDC0D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6043" y="2000250"/>
            <a:ext cx="11279257" cy="339883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-Evaluate campaign performance across platforms, countries, industries ,and campaign types .</a:t>
            </a:r>
          </a:p>
          <a:p>
            <a:r>
              <a:rPr lang="en-US" dirty="0"/>
              <a:t>-Identify drivers of ROAS .</a:t>
            </a:r>
          </a:p>
          <a:p>
            <a:r>
              <a:rPr lang="en-US" dirty="0"/>
              <a:t>-Support data-driven budget decisions.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10C7A9E-B1D7-4285-8DD5-D28AFDC7B4F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AF05980-54E0-4F3D-BAF3-4CE06FA77025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B234E-FE17-4087-92FD-3802CA26E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4BF5A6-9D63-0767-7526-EF99C1325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757030"/>
            <a:ext cx="5181486" cy="2242441"/>
          </a:xfrm>
        </p:spPr>
        <p:txBody>
          <a:bodyPr/>
          <a:lstStyle/>
          <a:p>
            <a:pPr algn="ctr"/>
            <a:r>
              <a:rPr lang="en-US" b="1" dirty="0"/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286551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EA6B7DE5-BFCC-4EEF-9609-8AA1C7CA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D30A968E-AB03-4BB5-BF8E-EB31DFD33B1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5789CCB9-138D-4D90-8AFB-AC5C73612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C6E43-C90D-7DCC-1EAC-F4A2E1D02DF5}"/>
              </a:ext>
            </a:extLst>
          </p:cNvPr>
          <p:cNvSpPr txBox="1"/>
          <p:nvPr/>
        </p:nvSpPr>
        <p:spPr>
          <a:xfrm>
            <a:off x="1736863" y="2228671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T-test: ROAS by platform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ANOVA: conversions by campaign type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ANOVA: conversions by country </a:t>
            </a:r>
          </a:p>
        </p:txBody>
      </p:sp>
    </p:spTree>
    <p:extLst>
      <p:ext uri="{BB962C8B-B14F-4D97-AF65-F5344CB8AC3E}">
        <p14:creationId xmlns:p14="http://schemas.microsoft.com/office/powerpoint/2010/main" val="2371293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2DD05A-ED92-A886-558E-3FEA62CDC3B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7C81873-7D47-483D-BCB4-50DD9806C720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EF718E-87D2-575E-8583-CCC666B42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B20052-88CC-93FE-459E-70BC607B6D85}"/>
              </a:ext>
            </a:extLst>
          </p:cNvPr>
          <p:cNvSpPr txBox="1"/>
          <p:nvPr/>
        </p:nvSpPr>
        <p:spPr>
          <a:xfrm>
            <a:off x="961611" y="540891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Regression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27BFAD-CE29-D607-6F6E-6E1509415A98}"/>
              </a:ext>
            </a:extLst>
          </p:cNvPr>
          <p:cNvSpPr txBox="1"/>
          <p:nvPr/>
        </p:nvSpPr>
        <p:spPr>
          <a:xfrm>
            <a:off x="467139" y="1242391"/>
            <a:ext cx="1087340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Two regression models were applied to identify the key drivers of performance.</a:t>
            </a:r>
          </a:p>
          <a:p>
            <a:pPr>
              <a:buNone/>
            </a:pPr>
            <a:r>
              <a:rPr lang="en-US" dirty="0"/>
              <a:t>The results show a statistically significant model (p-value &lt; 0.001) with moderate explanatory power (R² ≈ 0.32 and 0.52).</a:t>
            </a:r>
          </a:p>
          <a:p>
            <a:pPr>
              <a:buNone/>
            </a:pPr>
            <a:r>
              <a:rPr lang="en-US" dirty="0"/>
              <a:t>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CTR has a positive effect on both ROAS and conversions, indicating that higher engagement improves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CPC has a strong negative impact, meaning higher cost per click reduces efficiency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CPA also shows a negative relationship with performance, confirming that cost efficiency is critical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 spend has a positive effect on conversions, but its impact on efficiency is limited compared to cost metrics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💡 Business Insight</a:t>
            </a:r>
          </a:p>
          <a:p>
            <a:pPr>
              <a:buNone/>
            </a:pPr>
            <a:r>
              <a:rPr lang="en-US" dirty="0"/>
              <a:t>Performance is mainly driven by </a:t>
            </a:r>
            <a:r>
              <a:rPr lang="en-US" b="1" dirty="0"/>
              <a:t>cost efficiency (CPC &amp; CPA)</a:t>
            </a:r>
            <a:r>
              <a:rPr lang="en-US" dirty="0"/>
              <a:t> rather than just increasing ad spend.</a:t>
            </a:r>
          </a:p>
          <a:p>
            <a:pPr>
              <a:buNone/>
            </a:pPr>
            <a:r>
              <a:rPr lang="en-US" dirty="0"/>
              <a:t>This confirms that optimizing costs is more impactful than scaling budget alone</a:t>
            </a:r>
          </a:p>
        </p:txBody>
      </p:sp>
    </p:spTree>
    <p:extLst>
      <p:ext uri="{BB962C8B-B14F-4D97-AF65-F5344CB8AC3E}">
        <p14:creationId xmlns:p14="http://schemas.microsoft.com/office/powerpoint/2010/main" val="681618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DC4C40-20A5-EE8E-734E-E6721B880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512" y="1214178"/>
            <a:ext cx="6674802" cy="833284"/>
          </a:xfrm>
        </p:spPr>
        <p:txBody>
          <a:bodyPr>
            <a:normAutofit/>
          </a:bodyPr>
          <a:lstStyle/>
          <a:p>
            <a:r>
              <a:rPr lang="en-US" b="1" dirty="0"/>
              <a:t>Key Result (Platforms)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052897-6AC5-EE39-2279-13906653C5E2}"/>
              </a:ext>
            </a:extLst>
          </p:cNvPr>
          <p:cNvSpPr txBox="1"/>
          <p:nvPr/>
        </p:nvSpPr>
        <p:spPr>
          <a:xfrm>
            <a:off x="1510748" y="2445027"/>
            <a:ext cx="7635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Platform affects ROAS significantly</a:t>
            </a:r>
            <a:br>
              <a:rPr lang="en-US" i="1" dirty="0"/>
            </a:br>
            <a:r>
              <a:rPr lang="en-US" i="1" dirty="0"/>
              <a:t>→ Different platforms = different ROAS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86FCD8-8BF9-734D-49A1-47F1E695D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532" y="2445027"/>
            <a:ext cx="5512904" cy="343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12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A371F5-EAAD-4ADC-8D3F-1CBB98D5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Result (Campaign Types)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9F303BF-0A3C-497A-B99B-BEA514C0269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E4C197-EFE5-4623-8631-61DB25EC0F85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57E93D-BB39-4013-A843-780147924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E8A10-01D7-60D2-CE80-87E5C9E65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0" y="1277497"/>
            <a:ext cx="9952383" cy="39204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No significant difference in conversions</a:t>
            </a:r>
            <a:br>
              <a:rPr lang="en-US" dirty="0"/>
            </a:br>
            <a:r>
              <a:rPr lang="en-US" dirty="0"/>
              <a:t>→ Campaign type alone is not a strong drive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102A26-E3D6-AE7D-1737-0028B4D7C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247" y="1807321"/>
            <a:ext cx="4310271" cy="306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Result (Countries)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F6002B2-219C-4BAA-A95C-36538E39AEA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7AB0102-8ACA-4214-A839-9665520705F6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515DA6F-E486-4C5A-B98C-B1ACDA64D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C36186-9173-A149-F874-6379035D523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 No significant difference in conversions</a:t>
            </a:r>
            <a:br>
              <a:rPr lang="en-US" dirty="0"/>
            </a:br>
            <a:r>
              <a:rPr lang="en-US" dirty="0"/>
              <a:t>           → Volume is stable across markets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45955-497C-D087-45F2-EC4AA09D3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209" y="3429000"/>
            <a:ext cx="9068967" cy="320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BF59AC89-2307-4F1C-962F-D954A6C8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088" y="2105933"/>
            <a:ext cx="7613373" cy="2237467"/>
          </a:xfrm>
        </p:spPr>
        <p:txBody>
          <a:bodyPr/>
          <a:lstStyle/>
          <a:p>
            <a:r>
              <a:rPr lang="en-US" dirty="0"/>
              <a:t>Conversion ≠ Profit</a:t>
            </a:r>
            <a:br>
              <a:rPr lang="en-US" dirty="0"/>
            </a:br>
            <a:r>
              <a:rPr lang="en-US" dirty="0"/>
              <a:t>ROAS varies despite similar conversions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25A50B-BB2E-4F06-82AE-76A92D7CC3B8}"/>
              </a:ext>
            </a:extLst>
          </p:cNvPr>
          <p:cNvSpPr txBox="1"/>
          <p:nvPr/>
        </p:nvSpPr>
        <p:spPr>
          <a:xfrm>
            <a:off x="6096000" y="4076935"/>
            <a:ext cx="5149850" cy="5054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lvl="0">
              <a:lnSpc>
                <a:spcPct val="150000"/>
              </a:lnSpc>
              <a:spcBef>
                <a:spcPts val="0"/>
              </a:spcBef>
              <a:buNone/>
              <a:defRPr lang="en-US"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40F1142-57E3-40C3-9A2A-3B1C8975905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93BF043-A0E2-48C9-80FB-0A3EF98DDCEF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D61D9CF-8ACA-4237-8E03-D79B6B89F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D7483-E7A9-3719-6F53-600E888A91AE}"/>
              </a:ext>
            </a:extLst>
          </p:cNvPr>
          <p:cNvSpPr txBox="1"/>
          <p:nvPr/>
        </p:nvSpPr>
        <p:spPr>
          <a:xfrm>
            <a:off x="1627533" y="935766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Business Insight</a:t>
            </a:r>
          </a:p>
        </p:txBody>
      </p:sp>
    </p:spTree>
    <p:extLst>
      <p:ext uri="{BB962C8B-B14F-4D97-AF65-F5344CB8AC3E}">
        <p14:creationId xmlns:p14="http://schemas.microsoft.com/office/powerpoint/2010/main" val="3483999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F6CE792E-745D-4408-9AB1-740D556972A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65208FE-0220-403B-8209-06D9990EA4C9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BF214639-68C6-49E7-90D4-F4DAFEFBF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A756CA-A54B-57C3-D7BA-63A06023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Spend vs ROAS </a:t>
            </a: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1DA87403-CFD2-9EC5-31AB-0FC470D79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44" y="1479708"/>
            <a:ext cx="1049505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 budget to high ROAS markets (UAE, India)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low-efficiency markets (USA, Australia)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cost efficiency (CPA, CPC) .</a:t>
            </a:r>
          </a:p>
        </p:txBody>
      </p:sp>
    </p:spTree>
    <p:extLst>
      <p:ext uri="{BB962C8B-B14F-4D97-AF65-F5344CB8AC3E}">
        <p14:creationId xmlns:p14="http://schemas.microsoft.com/office/powerpoint/2010/main" val="4083546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BD27C7D-2D03-2D9D-B199-CB43D92BF09A}"/>
              </a:ext>
            </a:extLst>
          </p:cNvPr>
          <p:cNvSpPr txBox="1"/>
          <p:nvPr/>
        </p:nvSpPr>
        <p:spPr>
          <a:xfrm>
            <a:off x="1528141" y="590587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Final 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65E8C-FD7A-CBC4-5A6C-845F0E1A9112}"/>
              </a:ext>
            </a:extLst>
          </p:cNvPr>
          <p:cNvSpPr txBox="1"/>
          <p:nvPr/>
        </p:nvSpPr>
        <p:spPr>
          <a:xfrm>
            <a:off x="792645" y="1535453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 -Cost efficiency is the real driver of performance</a:t>
            </a:r>
            <a:br>
              <a:rPr lang="en-US" sz="1600" b="1" dirty="0"/>
            </a:br>
            <a:r>
              <a:rPr lang="en-US" sz="1600" b="1" dirty="0"/>
              <a:t> -Smarter budget allocation = higher ROI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75137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nimalist Presentation">
      <a:dk1>
        <a:sysClr val="windowText" lastClr="000000"/>
      </a:dk1>
      <a:lt1>
        <a:sysClr val="window" lastClr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iome Light"/>
        <a:ea typeface=""/>
        <a:cs typeface=""/>
      </a:majorFont>
      <a:minorFont>
        <a:latin typeface="Biom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color presentation_Win32_LW_v2.potx" id="{B7F4C684-7BE5-4BD8-BEBE-7F207A45F474}" vid="{9091DE1E-F617-4C59-950B-F96736B889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A10211-FBDE-44DA-8AD6-29E596B297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976319-4513-485C-AD3A-E56C39927A38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16c05727-aa75-4e4a-9b5f-8a80a1165891"/>
    <ds:schemaRef ds:uri="71af3243-3dd4-4a8d-8c0d-dd76da1f02a5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A1B7BBB-8F46-4BA8-85EC-2ECC1D2E32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Minimalist color presentation</Template>
  <TotalTime>67</TotalTime>
  <Words>348</Words>
  <Application>Microsoft Office PowerPoint</Application>
  <PresentationFormat>Widescreen</PresentationFormat>
  <Paragraphs>63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Biome Light</vt:lpstr>
      <vt:lpstr>Calibri</vt:lpstr>
      <vt:lpstr>Office Theme</vt:lpstr>
      <vt:lpstr>PowerPoint Presentation</vt:lpstr>
      <vt:lpstr>Objective</vt:lpstr>
      <vt:lpstr>Methodology</vt:lpstr>
      <vt:lpstr>PowerPoint Presentation</vt:lpstr>
      <vt:lpstr>Key Result (Platforms)</vt:lpstr>
      <vt:lpstr>Key Result (Campaign Types)</vt:lpstr>
      <vt:lpstr>Key Result (Countries)</vt:lpstr>
      <vt:lpstr>Conversion ≠ Profit ROAS varies despite similar conversions</vt:lpstr>
      <vt:lpstr>Spend vs ROAS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Laila Wahba</dc:creator>
  <cp:lastModifiedBy>Laila Wahba</cp:lastModifiedBy>
  <cp:revision>2</cp:revision>
  <dcterms:created xsi:type="dcterms:W3CDTF">2026-04-16T00:27:37Z</dcterms:created>
  <dcterms:modified xsi:type="dcterms:W3CDTF">2026-04-16T01:34:41Z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